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452ED22-4D14-B68D-7DB8-DD2BBD569E11}">
          <p14:sldIdLst>
            <p14:sldId id="256"/>
          </p14:sldIdLst>
        </p14:section>
        <p14:section name="Concepts" id="{9E7853FF-7EA1-9E7A-6541-F0572E58D1F5}">
          <p14:sldIdLst>
            <p14:sldId id="257"/>
            <p14:sldId id="258"/>
            <p14:sldId id="259"/>
          </p14:sldIdLst>
        </p14:section>
        <p14:section name="Comparison" id="{74003905-107C-162A-2CB6-81819FE0CA6A}">
          <p14:sldIdLst>
            <p14:sldId id="260"/>
          </p14:sldIdLst>
        </p14:section>
        <p14:section name="Steganography" id="{7A1A925B-BBF2-CFFE-EE8D-711C36209DC9}">
          <p14:sldIdLst>
            <p14:sldId id="261"/>
            <p14:sldId id="262"/>
          </p14:sldIdLst>
        </p14:section>
        <p14:section name="Cryptography" id="{C464BB3E-8EA4-B596-CBAE-4654C1CBB518}">
          <p14:sldIdLst>
            <p14:sldId id="263"/>
          </p14:sldIdLst>
        </p14:section>
        <p14:section name="Together" id="{AE8F8A97-2CAC-C921-8C99-ABBE10048824}">
          <p14:sldIdLst>
            <p14:sldId id="264"/>
          </p14:sldIdLst>
        </p14:section>
        <p14:section name="Wrap-up" id="{FB057588-500A-497C-B4C7-4FF04257882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057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disciplines for protecting information: one scrambles it, the other hides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Cryptography protects content. Steganography protects the very fact that communication is happening.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ciphertext is visible to everyone, but its security rests entirely on the secrecy of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competing design goals: stay invisible, carry as much as possible, and survive modification. Improving one usually costs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Cryptography protects the content; steganography protects the existence of the message. Their weaknesses are complementary.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medium with redundancy or noise can carry hidden data. Images are the most common carrier.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1024 x 768 x 3 channels = 2,359,296 bits = about 288 KB. Capacity is theoretical; real tools use less to avoid statistical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systems combine these: asymmetric crypto to exchange a key, symmetric crypto for the data, hashes for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Encrypt first, then embed. Attackers use the same trick, so defenders rely on steganalysis and file sanitization.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asking: which threat is your data facing, and do you need to hide the content, the existence, or both?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5029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Steganography vs Cryptography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6"/>
                </a:solidFill>
              </a:rPr>
              <a:t>Hidden Security in the Digital World</a:t>
            </a:r>
            <a:endParaRPr lang="en-US" sz="1800" dirty="0"/>
          </a:p>
        </p:txBody>
      </p:sp>
      <p:sp>
        <p:nvSpPr>
          <p:cNvPr id="4" name="Lock circle"/>
          <p:cNvSpPr/>
          <p:nvPr/>
        </p:nvSpPr>
        <p:spPr>
          <a:xfrm>
            <a:off x="6035040" y="100584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492301"/>
            <a:ext cx="764438" cy="764438"/>
          </a:xfrm>
          <a:prstGeom prst="rect">
            <a:avLst/>
          </a:prstGeom>
        </p:spPr>
      </p:pic>
      <p:sp>
        <p:nvSpPr>
          <p:cNvPr id="6" name="Hidden eye circle"/>
          <p:cNvSpPr/>
          <p:nvPr/>
        </p:nvSpPr>
        <p:spPr>
          <a:xfrm>
            <a:off x="6949440" y="274320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Hidden ey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901" y="3229661"/>
            <a:ext cx="764438" cy="764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C41123-14AD-BC6E-AB7D-02F7C279932F}"/>
              </a:ext>
            </a:extLst>
          </p:cNvPr>
          <p:cNvSpPr txBox="1"/>
          <p:nvPr/>
        </p:nvSpPr>
        <p:spPr>
          <a:xfrm>
            <a:off x="672174" y="3653664"/>
            <a:ext cx="4432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Bharath Kumar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yadav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>
                <a:solidFill>
                  <a:schemeClr val="bg1">
                    <a:lumMod val="95000"/>
                  </a:schemeClr>
                </a:solidFill>
              </a:rPr>
              <a:t>192372317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CSA5116-Cryptography and Network Security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D455B0-5A41-EA69-49EA-2FD9D8A0D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112458"/>
            <a:ext cx="1133475" cy="1159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80E470-D759-0B78-14F6-4375292E1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9678" y="95860"/>
            <a:ext cx="1274590" cy="11152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Two ways to keep a secret</a:t>
            </a:r>
            <a:endParaRPr lang="en-US" sz="3200" dirty="0"/>
          </a:p>
        </p:txBody>
      </p:sp>
      <p:sp>
        <p:nvSpPr>
          <p:cNvPr id="3" name="Cryptography card"/>
          <p:cNvSpPr/>
          <p:nvPr/>
        </p:nvSpPr>
        <p:spPr>
          <a:xfrm>
            <a:off x="548640" y="1325880"/>
            <a:ext cx="365760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Cryptography 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Cryptograp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Cryptography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Hide the meaning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Everyone can see a message exists, but without the key it cannot be read.</a:t>
            </a:r>
            <a:endParaRPr lang="en-US" sz="1400" dirty="0"/>
          </a:p>
        </p:txBody>
      </p:sp>
      <p:sp>
        <p:nvSpPr>
          <p:cNvPr id="9" name="Steganography card"/>
          <p:cNvSpPr/>
          <p:nvPr/>
        </p:nvSpPr>
        <p:spPr>
          <a:xfrm>
            <a:off x="4937760" y="1325880"/>
            <a:ext cx="365760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teganography circle"/>
          <p:cNvSpPr/>
          <p:nvPr/>
        </p:nvSpPr>
        <p:spPr>
          <a:xfrm>
            <a:off x="5212080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Steganograp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7922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Steganography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21208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Hide the existence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21208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message is concealed inside an ordinary file, so nobody looks for it.</a:t>
            </a:r>
            <a:endParaRPr lang="en-US" sz="1400" dirty="0"/>
          </a:p>
        </p:txBody>
      </p:sp>
      <p:sp>
        <p:nvSpPr>
          <p:cNvPr id="15" name="VS badge"/>
          <p:cNvSpPr/>
          <p:nvPr/>
        </p:nvSpPr>
        <p:spPr>
          <a:xfrm>
            <a:off x="4297680" y="2423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4297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3"/>
                </a:solidFill>
              </a:rPr>
              <a:t>kryptos = hidden   |   steganos = covered   |   graphein = writing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Cryptography: scrambling the message</a:t>
            </a:r>
            <a:endParaRPr lang="en-US" sz="3200" dirty="0"/>
          </a:p>
        </p:txBody>
      </p:sp>
      <p:sp>
        <p:nvSpPr>
          <p:cNvPr id="3" name="flow box 1"/>
          <p:cNvSpPr/>
          <p:nvPr/>
        </p:nvSpPr>
        <p:spPr>
          <a:xfrm>
            <a:off x="54864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PLAINTEXT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AT NOON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1965960" y="18745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flow box 2"/>
          <p:cNvSpPr/>
          <p:nvPr/>
        </p:nvSpPr>
        <p:spPr>
          <a:xfrm>
            <a:off x="221742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30886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ENCRYPT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0886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Key + algorithm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634740" y="18745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flow box 3"/>
          <p:cNvSpPr/>
          <p:nvPr/>
        </p:nvSpPr>
        <p:spPr>
          <a:xfrm>
            <a:off x="388620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97764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CIPHERTEXT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cs typeface="Courier New" pitchFamily="34" charset="-120"/>
              </a:rPr>
              <a:t>NFFUBUOPPO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5303520" y="18745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flow box 4"/>
          <p:cNvSpPr/>
          <p:nvPr/>
        </p:nvSpPr>
        <p:spPr>
          <a:xfrm>
            <a:off x="555498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4642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DECRYPT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4642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or paired key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6972300" y="18745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flow box 5"/>
          <p:cNvSpPr/>
          <p:nvPr/>
        </p:nvSpPr>
        <p:spPr>
          <a:xfrm>
            <a:off x="722376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31520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PLAINTEXT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AT NOON</a:t>
            </a:r>
            <a:endParaRPr lang="en-US" sz="1300" dirty="0"/>
          </a:p>
        </p:txBody>
      </p:sp>
      <p:sp>
        <p:nvSpPr>
          <p:cNvPr id="22" name="Confidentiality card"/>
          <p:cNvSpPr/>
          <p:nvPr/>
        </p:nvSpPr>
        <p:spPr>
          <a:xfrm>
            <a:off x="5486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Confidentiality circle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0" descr="Confidentia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3562502"/>
            <a:ext cx="281635" cy="28163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5087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Confidentiality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5087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Only key holders can read it</a:t>
            </a:r>
            <a:endParaRPr lang="en-US" sz="1400" dirty="0"/>
          </a:p>
        </p:txBody>
      </p:sp>
      <p:sp>
        <p:nvSpPr>
          <p:cNvPr id="27" name="Integrity card"/>
          <p:cNvSpPr/>
          <p:nvPr/>
        </p:nvSpPr>
        <p:spPr>
          <a:xfrm>
            <a:off x="32918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Integrity circle"/>
          <p:cNvSpPr/>
          <p:nvPr/>
        </p:nvSpPr>
        <p:spPr>
          <a:xfrm>
            <a:off x="34747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1" descr="Integ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42" y="3562502"/>
            <a:ext cx="281635" cy="28163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42519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Integrity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42519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Tampering is detectable</a:t>
            </a:r>
            <a:endParaRPr lang="en-US" sz="1400" dirty="0"/>
          </a:p>
        </p:txBody>
      </p:sp>
      <p:sp>
        <p:nvSpPr>
          <p:cNvPr id="32" name="Authentication card"/>
          <p:cNvSpPr/>
          <p:nvPr/>
        </p:nvSpPr>
        <p:spPr>
          <a:xfrm>
            <a:off x="60350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Authentication circle"/>
          <p:cNvSpPr/>
          <p:nvPr/>
        </p:nvSpPr>
        <p:spPr>
          <a:xfrm>
            <a:off x="62179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2" descr="Authentic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142" y="3562502"/>
            <a:ext cx="281635" cy="28163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9951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9951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Proves who sent it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Steganography: concealing the message</a:t>
            </a:r>
            <a:endParaRPr lang="en-US" sz="3200" dirty="0"/>
          </a:p>
        </p:txBody>
      </p:sp>
      <p:sp>
        <p:nvSpPr>
          <p:cNvPr id="3" name="input 1"/>
          <p:cNvSpPr/>
          <p:nvPr/>
        </p:nvSpPr>
        <p:spPr>
          <a:xfrm>
            <a:off x="548640" y="1325880"/>
            <a:ext cx="20116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SECRET MESSAGE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Meet at noon</a:t>
            </a:r>
            <a:endParaRPr lang="en-US" sz="1400" dirty="0"/>
          </a:p>
        </p:txBody>
      </p:sp>
      <p:sp>
        <p:nvSpPr>
          <p:cNvPr id="6" name="input 2"/>
          <p:cNvSpPr/>
          <p:nvPr/>
        </p:nvSpPr>
        <p:spPr>
          <a:xfrm>
            <a:off x="548640" y="2103120"/>
            <a:ext cx="20116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COVER FILE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Ordinary photo</a:t>
            </a:r>
            <a:endParaRPr lang="en-US" sz="1400" dirty="0"/>
          </a:p>
        </p:txBody>
      </p:sp>
      <p:sp>
        <p:nvSpPr>
          <p:cNvPr id="9" name="stego box 1"/>
          <p:cNvSpPr/>
          <p:nvPr/>
        </p:nvSpPr>
        <p:spPr>
          <a:xfrm>
            <a:off x="2926080" y="1325880"/>
            <a:ext cx="155448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0175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EMBED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Hide bits inside the cover</a:t>
            </a:r>
            <a:endParaRPr lang="en-US" sz="1400" dirty="0"/>
          </a:p>
        </p:txBody>
      </p:sp>
      <p:sp>
        <p:nvSpPr>
          <p:cNvPr id="12" name="stego box 2"/>
          <p:cNvSpPr/>
          <p:nvPr/>
        </p:nvSpPr>
        <p:spPr>
          <a:xfrm>
            <a:off x="4846320" y="132588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93776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STEGO FILE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28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Looks identical to the original</a:t>
            </a:r>
            <a:endParaRPr lang="en-US" sz="1400" dirty="0"/>
          </a:p>
        </p:txBody>
      </p:sp>
      <p:sp>
        <p:nvSpPr>
          <p:cNvPr id="15" name="stego box 3"/>
          <p:cNvSpPr/>
          <p:nvPr/>
        </p:nvSpPr>
        <p:spPr>
          <a:xfrm>
            <a:off x="7040880" y="1325880"/>
            <a:ext cx="155448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EXTRACT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Recipient recovers the secret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2606040" y="1920240"/>
            <a:ext cx="274320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arrow"/>
          <p:cNvSpPr/>
          <p:nvPr/>
        </p:nvSpPr>
        <p:spPr>
          <a:xfrm>
            <a:off x="4526280" y="1920240"/>
            <a:ext cx="274320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arrow"/>
          <p:cNvSpPr/>
          <p:nvPr/>
        </p:nvSpPr>
        <p:spPr>
          <a:xfrm>
            <a:off x="6720840" y="1920240"/>
            <a:ext cx="274320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Undetectable card"/>
          <p:cNvSpPr/>
          <p:nvPr/>
        </p:nvSpPr>
        <p:spPr>
          <a:xfrm>
            <a:off x="5486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Undetectable circle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0" descr="Undetec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3562502"/>
            <a:ext cx="281635" cy="28163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5087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Undetectable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No visible or audible change</a:t>
            </a:r>
            <a:endParaRPr lang="en-US" sz="1400" dirty="0"/>
          </a:p>
        </p:txBody>
      </p:sp>
      <p:sp>
        <p:nvSpPr>
          <p:cNvPr id="26" name="Capacity card"/>
          <p:cNvSpPr/>
          <p:nvPr/>
        </p:nvSpPr>
        <p:spPr>
          <a:xfrm>
            <a:off x="32918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Capacity circle"/>
          <p:cNvSpPr/>
          <p:nvPr/>
        </p:nvSpPr>
        <p:spPr>
          <a:xfrm>
            <a:off x="3474720" y="33832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Capac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42" y="3562502"/>
            <a:ext cx="281635" cy="28163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2519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Capacity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42519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How much data fits inside</a:t>
            </a:r>
            <a:endParaRPr lang="en-US" sz="1400" dirty="0"/>
          </a:p>
        </p:txBody>
      </p:sp>
      <p:sp>
        <p:nvSpPr>
          <p:cNvPr id="31" name="Robustness card"/>
          <p:cNvSpPr/>
          <p:nvPr/>
        </p:nvSpPr>
        <p:spPr>
          <a:xfrm>
            <a:off x="60350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Robustness circle"/>
          <p:cNvSpPr/>
          <p:nvPr/>
        </p:nvSpPr>
        <p:spPr>
          <a:xfrm>
            <a:off x="6217920" y="33832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2" descr="Robustne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142" y="3562502"/>
            <a:ext cx="281635" cy="28163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9951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Robustness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69951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Survives resizing and editing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Side-by-side comparison</a:t>
            </a:r>
            <a:endParaRPr lang="en-US" sz="3200" dirty="0"/>
          </a:p>
        </p:txBody>
      </p:sp>
      <p:graphicFrame>
        <p:nvGraphicFramePr>
          <p:cNvPr id="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32841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Cryptography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Steganography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Goal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Make data unreadable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Make data unnoticed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Visibility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Obvious, looks scrambled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Hidden inside normal files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If discovered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Still unreadable without key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Secret exposed, no protection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Techniques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AES, RSA, ECC, SHA-256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LSB, spread spectrum, phase coding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Strength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Mathematically proven security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Conceals that a secret exists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Weakness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Signals that something is hidden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 capacity, fragile to editing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data can hide</a:t>
            </a:r>
            <a:endParaRPr lang="en-US" sz="3200" dirty="0"/>
          </a:p>
        </p:txBody>
      </p:sp>
      <p:sp>
        <p:nvSpPr>
          <p:cNvPr id="3" name="Images card"/>
          <p:cNvSpPr/>
          <p:nvPr/>
        </p:nvSpPr>
        <p:spPr>
          <a:xfrm>
            <a:off x="548640" y="12801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Images circle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m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6294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Images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Tweak the lowest bits of pixel colors</a:t>
            </a:r>
            <a:endParaRPr lang="en-US" sz="1300" dirty="0"/>
          </a:p>
        </p:txBody>
      </p:sp>
      <p:sp>
        <p:nvSpPr>
          <p:cNvPr id="8" name="Audio card"/>
          <p:cNvSpPr/>
          <p:nvPr/>
        </p:nvSpPr>
        <p:spPr>
          <a:xfrm>
            <a:off x="3291840" y="12801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Audio circle"/>
          <p:cNvSpPr/>
          <p:nvPr/>
        </p:nvSpPr>
        <p:spPr>
          <a:xfrm>
            <a:off x="347472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Aud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141" y="16294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Audio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Add changes humans cannot hear</a:t>
            </a:r>
            <a:endParaRPr lang="en-US" sz="1300" dirty="0"/>
          </a:p>
        </p:txBody>
      </p:sp>
      <p:sp>
        <p:nvSpPr>
          <p:cNvPr id="13" name="Video card"/>
          <p:cNvSpPr/>
          <p:nvPr/>
        </p:nvSpPr>
        <p:spPr>
          <a:xfrm>
            <a:off x="6035040" y="12801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Video circle"/>
          <p:cNvSpPr/>
          <p:nvPr/>
        </p:nvSpPr>
        <p:spPr>
          <a:xfrm>
            <a:off x="621792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Vide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41" y="162946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Video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Hide bits across frames and motion data</a:t>
            </a:r>
            <a:endParaRPr lang="en-US" sz="1300" dirty="0"/>
          </a:p>
        </p:txBody>
      </p:sp>
      <p:sp>
        <p:nvSpPr>
          <p:cNvPr id="18" name="Text card"/>
          <p:cNvSpPr/>
          <p:nvPr/>
        </p:nvSpPr>
        <p:spPr>
          <a:xfrm>
            <a:off x="5486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circle"/>
          <p:cNvSpPr/>
          <p:nvPr/>
        </p:nvSpPr>
        <p:spPr>
          <a:xfrm>
            <a:off x="731520" y="3063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Tex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322966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Text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Use spacing, punctuation or word choice</a:t>
            </a:r>
            <a:endParaRPr lang="en-US" sz="1300" dirty="0"/>
          </a:p>
        </p:txBody>
      </p:sp>
      <p:sp>
        <p:nvSpPr>
          <p:cNvPr id="23" name="Network card"/>
          <p:cNvSpPr/>
          <p:nvPr/>
        </p:nvSpPr>
        <p:spPr>
          <a:xfrm>
            <a:off x="32918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Network circle"/>
          <p:cNvSpPr/>
          <p:nvPr/>
        </p:nvSpPr>
        <p:spPr>
          <a:xfrm>
            <a:off x="3474720" y="3063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Networ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1141" y="322966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25196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Network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Embed bits in unused packet header fields</a:t>
            </a:r>
            <a:endParaRPr lang="en-US" sz="1300" dirty="0"/>
          </a:p>
        </p:txBody>
      </p:sp>
      <p:sp>
        <p:nvSpPr>
          <p:cNvPr id="28" name="Files card"/>
          <p:cNvSpPr/>
          <p:nvPr/>
        </p:nvSpPr>
        <p:spPr>
          <a:xfrm>
            <a:off x="60350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Files circle"/>
          <p:cNvSpPr/>
          <p:nvPr/>
        </p:nvSpPr>
        <p:spPr>
          <a:xfrm>
            <a:off x="6217920" y="3063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Fil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4341" y="322966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9516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Files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Store data in slack space and metadata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least significant bit hiding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Original red value of one pixel: 180</a:t>
            </a:r>
            <a:endParaRPr lang="en-US" sz="1400" dirty="0"/>
          </a:p>
        </p:txBody>
      </p:sp>
      <p:sp>
        <p:nvSpPr>
          <p:cNvPr id="4" name="bit 0"/>
          <p:cNvSpPr/>
          <p:nvPr/>
        </p:nvSpPr>
        <p:spPr>
          <a:xfrm>
            <a:off x="54864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bit 1"/>
          <p:cNvSpPr/>
          <p:nvPr/>
        </p:nvSpPr>
        <p:spPr>
          <a:xfrm>
            <a:off x="114300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bit 2"/>
          <p:cNvSpPr/>
          <p:nvPr/>
        </p:nvSpPr>
        <p:spPr>
          <a:xfrm>
            <a:off x="173736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73736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bit 3"/>
          <p:cNvSpPr/>
          <p:nvPr/>
        </p:nvSpPr>
        <p:spPr>
          <a:xfrm>
            <a:off x="233172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33172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bit 4"/>
          <p:cNvSpPr/>
          <p:nvPr/>
        </p:nvSpPr>
        <p:spPr>
          <a:xfrm>
            <a:off x="292608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92608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bit 5"/>
          <p:cNvSpPr/>
          <p:nvPr/>
        </p:nvSpPr>
        <p:spPr>
          <a:xfrm>
            <a:off x="352044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52044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bit 6"/>
          <p:cNvSpPr/>
          <p:nvPr/>
        </p:nvSpPr>
        <p:spPr>
          <a:xfrm>
            <a:off x="411480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11480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bit 7"/>
          <p:cNvSpPr/>
          <p:nvPr/>
        </p:nvSpPr>
        <p:spPr>
          <a:xfrm>
            <a:off x="470916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70916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down arrow"/>
          <p:cNvSpPr/>
          <p:nvPr/>
        </p:nvSpPr>
        <p:spPr>
          <a:xfrm>
            <a:off x="4818888" y="2286000"/>
            <a:ext cx="274320" cy="365760"/>
          </a:xfrm>
          <a:prstGeom prst="down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864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 bit 1 replaces the last bit: 181</a:t>
            </a:r>
            <a:endParaRPr lang="en-US" sz="1400" dirty="0"/>
          </a:p>
        </p:txBody>
      </p:sp>
      <p:sp>
        <p:nvSpPr>
          <p:cNvPr id="22" name="bit 0"/>
          <p:cNvSpPr/>
          <p:nvPr/>
        </p:nvSpPr>
        <p:spPr>
          <a:xfrm>
            <a:off x="54864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4864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bit 1"/>
          <p:cNvSpPr/>
          <p:nvPr/>
        </p:nvSpPr>
        <p:spPr>
          <a:xfrm>
            <a:off x="114300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114300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bit 2"/>
          <p:cNvSpPr/>
          <p:nvPr/>
        </p:nvSpPr>
        <p:spPr>
          <a:xfrm>
            <a:off x="173736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173736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bit 3"/>
          <p:cNvSpPr/>
          <p:nvPr/>
        </p:nvSpPr>
        <p:spPr>
          <a:xfrm>
            <a:off x="233172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233172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bit 4"/>
          <p:cNvSpPr/>
          <p:nvPr/>
        </p:nvSpPr>
        <p:spPr>
          <a:xfrm>
            <a:off x="292608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292608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2" name="bit 5"/>
          <p:cNvSpPr/>
          <p:nvPr/>
        </p:nvSpPr>
        <p:spPr>
          <a:xfrm>
            <a:off x="352044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352044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bit 6"/>
          <p:cNvSpPr/>
          <p:nvPr/>
        </p:nvSpPr>
        <p:spPr>
          <a:xfrm>
            <a:off x="411480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11480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6" name="bit 7"/>
          <p:cNvSpPr/>
          <p:nvPr/>
        </p:nvSpPr>
        <p:spPr>
          <a:xfrm>
            <a:off x="470916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470916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swatch before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solidFill>
            <a:srgbClr val="B4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watch after"/>
          <p:cNvSpPr/>
          <p:nvPr/>
        </p:nvSpPr>
        <p:spPr>
          <a:xfrm>
            <a:off x="1097280" y="3931920"/>
            <a:ext cx="457200" cy="457200"/>
          </a:xfrm>
          <a:prstGeom prst="rect">
            <a:avLst/>
          </a:prstGeom>
          <a:solidFill>
            <a:srgbClr val="B5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173736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Before and after: visually identical</a:t>
            </a:r>
            <a:endParaRPr lang="en-US" sz="1400" dirty="0"/>
          </a:p>
        </p:txBody>
      </p:sp>
      <p:sp>
        <p:nvSpPr>
          <p:cNvPr id="41" name="stat card"/>
          <p:cNvSpPr/>
          <p:nvPr/>
        </p:nvSpPr>
        <p:spPr>
          <a:xfrm>
            <a:off x="59436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612648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≈288 KB</a:t>
            </a:r>
            <a:endParaRPr lang="en-US" sz="3600" dirty="0"/>
          </a:p>
        </p:txBody>
      </p:sp>
      <p:sp>
        <p:nvSpPr>
          <p:cNvPr id="43" name="Text 41"/>
          <p:cNvSpPr txBox="1"/>
          <p:nvPr/>
        </p:nvSpPr>
        <p:spPr>
          <a:xfrm>
            <a:off x="612648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of hidden data in one 1024 × 768 photo at 1 bit per color channel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color value changes by at most 1 out of 255.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cryptography toolbox</a:t>
            </a:r>
            <a:endParaRPr lang="en-US" sz="3200" dirty="0"/>
          </a:p>
        </p:txBody>
      </p:sp>
      <p:sp>
        <p:nvSpPr>
          <p:cNvPr id="3" name="Symmetric card"/>
          <p:cNvSpPr/>
          <p:nvPr/>
        </p:nvSpPr>
        <p:spPr>
          <a:xfrm>
            <a:off x="548640" y="132588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ymmetric 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Symmetr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Symmetric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One shared secret key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Fast, ideal for bulk 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tx1"/>
                </a:solidFill>
              </a:rPr>
              <a:t>e.g. AES, ChaCha20</a:t>
            </a:r>
            <a:endParaRPr lang="en-US" sz="1400" dirty="0"/>
          </a:p>
        </p:txBody>
      </p:sp>
      <p:sp>
        <p:nvSpPr>
          <p:cNvPr id="10" name="Asymmetric card"/>
          <p:cNvSpPr/>
          <p:nvPr/>
        </p:nvSpPr>
        <p:spPr>
          <a:xfrm>
            <a:off x="3291840" y="132588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Asymmetric circle"/>
          <p:cNvSpPr/>
          <p:nvPr/>
        </p:nvSpPr>
        <p:spPr>
          <a:xfrm>
            <a:off x="35661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Asymmetr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17922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Asymmetric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Public and private key pair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Solves key exchange, signs data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tx1"/>
                </a:solidFill>
              </a:rPr>
              <a:t>e.g. RSA, ECC</a:t>
            </a:r>
            <a:endParaRPr lang="en-US" sz="1400" dirty="0"/>
          </a:p>
        </p:txBody>
      </p:sp>
      <p:sp>
        <p:nvSpPr>
          <p:cNvPr id="17" name="Hashing card"/>
          <p:cNvSpPr/>
          <p:nvPr/>
        </p:nvSpPr>
        <p:spPr>
          <a:xfrm>
            <a:off x="6035040" y="132588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Hashing circle"/>
          <p:cNvSpPr/>
          <p:nvPr/>
        </p:nvSpPr>
        <p:spPr>
          <a:xfrm>
            <a:off x="63093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Hash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Hashing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One-way digital fingerprint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Verifies integrity, cannot be reversed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tx1"/>
                </a:solidFill>
              </a:rPr>
              <a:t>e.g. SHA-256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Stronger together, with risks</a:t>
            </a:r>
            <a:endParaRPr lang="en-US" sz="3200" dirty="0"/>
          </a:p>
        </p:txBody>
      </p:sp>
      <p:sp>
        <p:nvSpPr>
          <p:cNvPr id="3" name="step Encrypt"/>
          <p:cNvSpPr/>
          <p:nvPr/>
        </p:nvSpPr>
        <p:spPr>
          <a:xfrm>
            <a:off x="548640" y="1280160"/>
            <a:ext cx="173736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8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Encrypt</a:t>
            </a:r>
            <a:endParaRPr lang="en-US" sz="1400" dirty="0"/>
          </a:p>
        </p:txBody>
      </p:sp>
      <p:sp>
        <p:nvSpPr>
          <p:cNvPr id="5" name="step Embed"/>
          <p:cNvSpPr/>
          <p:nvPr/>
        </p:nvSpPr>
        <p:spPr>
          <a:xfrm>
            <a:off x="2121408" y="1280160"/>
            <a:ext cx="1737360" cy="822960"/>
          </a:xfrm>
          <a:prstGeom prst="chevr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2441448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</a:t>
            </a:r>
            <a:endParaRPr lang="en-US" sz="1400" dirty="0"/>
          </a:p>
        </p:txBody>
      </p:sp>
      <p:sp>
        <p:nvSpPr>
          <p:cNvPr id="7" name="step Send"/>
          <p:cNvSpPr/>
          <p:nvPr/>
        </p:nvSpPr>
        <p:spPr>
          <a:xfrm>
            <a:off x="3694176" y="1280160"/>
            <a:ext cx="1737360" cy="822960"/>
          </a:xfrm>
          <a:prstGeom prst="chevr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014216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Send</a:t>
            </a:r>
            <a:endParaRPr lang="en-US" sz="1400" dirty="0"/>
          </a:p>
        </p:txBody>
      </p:sp>
      <p:sp>
        <p:nvSpPr>
          <p:cNvPr id="9" name="step Extract"/>
          <p:cNvSpPr/>
          <p:nvPr/>
        </p:nvSpPr>
        <p:spPr>
          <a:xfrm>
            <a:off x="5266944" y="1280160"/>
            <a:ext cx="1737360" cy="822960"/>
          </a:xfrm>
          <a:prstGeom prst="chevr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586984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</a:t>
            </a:r>
            <a:endParaRPr lang="en-US" sz="1400" dirty="0"/>
          </a:p>
        </p:txBody>
      </p:sp>
      <p:sp>
        <p:nvSpPr>
          <p:cNvPr id="11" name="step Decrypt"/>
          <p:cNvSpPr/>
          <p:nvPr/>
        </p:nvSpPr>
        <p:spPr>
          <a:xfrm>
            <a:off x="6839712" y="1280160"/>
            <a:ext cx="173736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159752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Decrypt</a:t>
            </a:r>
            <a:endParaRPr lang="en-US" sz="1400" dirty="0"/>
          </a:p>
        </p:txBody>
      </p:sp>
      <p:sp>
        <p:nvSpPr>
          <p:cNvPr id="13" name="Why combine them card"/>
          <p:cNvSpPr/>
          <p:nvPr/>
        </p:nvSpPr>
        <p:spPr>
          <a:xfrm>
            <a:off x="548640" y="2468880"/>
            <a:ext cx="39319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Why combine them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108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Encryption protects the content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Steganography hides that it exists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Even if found, only noise remains</a:t>
            </a:r>
            <a:endParaRPr lang="en-US" sz="1400" dirty="0"/>
          </a:p>
        </p:txBody>
      </p:sp>
      <p:sp>
        <p:nvSpPr>
          <p:cNvPr id="16" name="The dark side and defense card"/>
          <p:cNvSpPr/>
          <p:nvPr/>
        </p:nvSpPr>
        <p:spPr>
          <a:xfrm>
            <a:off x="4663440" y="2468880"/>
            <a:ext cx="39319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93776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The dark side and defense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108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Malware can hide inside images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Steganalysis finds statistical quirks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Scan and sanitize incoming files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71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</a:rPr>
              <a:t>Cryptography hides the meaning of a message.</a:t>
            </a:r>
            <a:endParaRPr lang="en-US" sz="2200" dirty="0"/>
          </a:p>
        </p:txBody>
      </p:sp>
      <p:sp>
        <p:nvSpPr>
          <p:cNvPr id="6" name="number 2"/>
          <p:cNvSpPr/>
          <p:nvPr/>
        </p:nvSpPr>
        <p:spPr>
          <a:xfrm>
            <a:off x="548640" y="22402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</a:rPr>
              <a:t>Steganography hides the existence of a message.</a:t>
            </a:r>
            <a:endParaRPr lang="en-US" sz="2200" dirty="0"/>
          </a:p>
        </p:txBody>
      </p:sp>
      <p:sp>
        <p:nvSpPr>
          <p:cNvPr id="9" name="number 3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08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</a:rPr>
              <a:t>Used together, they provide defense in depth.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secrets are both locked and unseen.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Security">
  <a:themeElements>
    <a:clrScheme name="Hidden Security">
      <a:dk1>
        <a:srgbClr val="0B1F2A"/>
      </a:dk1>
      <a:lt1>
        <a:srgbClr val="FFFFFF"/>
      </a:lt1>
      <a:dk2>
        <a:srgbClr val="12343F"/>
      </a:dk2>
      <a:lt2>
        <a:srgbClr val="E9F3F2"/>
      </a:lt2>
      <a:accent1>
        <a:srgbClr val="0A8F83"/>
      </a:accent1>
      <a:accent2>
        <a:srgbClr val="E8A33D"/>
      </a:accent2>
      <a:accent3>
        <a:srgbClr val="5C6B73"/>
      </a:accent3>
      <a:accent4>
        <a:srgbClr val="2F6690"/>
      </a:accent4>
      <a:accent5>
        <a:srgbClr val="F4C77D"/>
      </a:accent5>
      <a:accent6>
        <a:srgbClr val="3DDCC8"/>
      </a:accent6>
      <a:hlink>
        <a:srgbClr val="2F6690"/>
      </a:hlink>
      <a:folHlink>
        <a:srgbClr val="5C6B73"/>
      </a:folHlink>
    </a:clrScheme>
    <a:fontScheme name="Hidden Secur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719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Hidden Security</vt:lpstr>
      <vt:lpstr>Steganography vs Cryptography</vt:lpstr>
      <vt:lpstr>Two ways to keep a secret</vt:lpstr>
      <vt:lpstr>Cryptography: scrambling the message</vt:lpstr>
      <vt:lpstr>Steganography: concealing the message</vt:lpstr>
      <vt:lpstr>Side-by-side comparison</vt:lpstr>
      <vt:lpstr>Where data can hide</vt:lpstr>
      <vt:lpstr>Example: least significant bit hiding</vt:lpstr>
      <vt:lpstr>The cryptography toolbox</vt:lpstr>
      <vt:lpstr>Stronger together, with risks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 vs Cryptography</dc:title>
  <dc:subject>PptxGenJS Presentation</dc:subject>
  <dc:creator>PptxGenJS</dc:creator>
  <cp:lastModifiedBy>vignesh V</cp:lastModifiedBy>
  <cp:revision>5</cp:revision>
  <dcterms:created xsi:type="dcterms:W3CDTF">2026-10-08T03:26:45Z</dcterms:created>
  <dcterms:modified xsi:type="dcterms:W3CDTF">2026-10-10T07:29:23Z</dcterms:modified>
</cp:coreProperties>
</file>